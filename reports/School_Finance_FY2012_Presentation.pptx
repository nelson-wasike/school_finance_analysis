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5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5BF3-6470-C502-ADE0-F6FCBCD37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26AE9C-6323-E1B2-7449-95726A9A8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11731-4AB2-5109-B6FA-16740E444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6143-E03C-4CFD-AFDC-14E5BDEA754C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BF02D-D23A-7C40-F0A6-D6271BAA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F6678-F38A-1B0E-B383-CDBEC2FD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152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7086-B527-1E91-CBFE-66BF310E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41871-E138-F52A-04DC-F2D687F83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A3A7C-2FE1-96D3-C47D-E0C53E1A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16911-537E-B927-3430-808787B2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9349-9B19-8B38-9791-83819AA1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31523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C92D-C043-1EB8-4EB7-F4208805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C0B19-57E2-DF84-7EF6-9612BD65F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6A5C6-0897-AFF4-DE04-DEA76845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B466B-435C-41EA-A61F-5145E04D4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D00D3-18AD-197A-8AB7-35493F13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2602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F479-75AB-26A7-726E-0E2360B0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BA07-BDED-FDE3-8731-F3FC18F27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49195-E50B-D78C-2D01-3D29A078A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98022-62C0-CAAB-132F-3DAA6458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EA314-B717-2FDB-1D4D-00AE6CFC9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C57CC-408C-388F-B1F2-0647AAA3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019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ED8A-5BFB-AB0D-A068-ADB3D52D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EDD7-AB83-F0C4-E643-795B7F96F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3DA4D-E574-F4B2-0E20-921DAE7F2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1DFF9-0B71-0220-161E-5A9305B3B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C2DE90-AD1A-B772-6110-F8745F6FD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4DF9A-A12B-2939-CC6D-5B36A071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2AA98-7EC5-9344-3FC8-761AAEBE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80B741-7E1B-C88E-55D8-01016E33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343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F68-1882-E27B-3C8C-075A4CA0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438F3-8E10-A6D1-5803-564BDF04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7D1F69-B224-5722-4346-69D80056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37EE8-8413-13B2-7479-450A0536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851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6427B-5633-88FD-EC33-9352BCC1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4B0A6-B681-F7E2-9D8E-7D4C6B13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C00B7-BD99-B9BD-6D5F-81E9D036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652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6EAB0-4031-7339-7D16-FA12C3A2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27C3-F099-D23A-A497-494B25CA8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32470-AC03-BB5D-0439-D981B8A66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70CAA-505C-C048-5D57-EC3796AF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215BF-DF2D-FC43-CD5F-C52B39A5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F1659-BEFC-70FA-221E-7C997858C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6593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0F45-EEAB-0111-D4F0-D4ABCA88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9501F-94C5-D94D-051E-D337EB553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DFE8E-6488-7038-374A-E45A21C46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F0F5C-73B6-0092-290D-804544CA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44D12-97F2-BF49-597F-31459B7F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50DBB-695E-D4B9-3E51-DECEB4E4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2675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23F86-75F0-06B3-9D00-30A6A97C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2BB9F-AC73-B115-A3FE-90C97A21B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4AAB-1CAF-67E6-F82E-3D91D8E0C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3B73-F090-15A8-1BCB-60832C7A4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9982F-6AD4-9555-D296-909A9D72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753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EF45F7-B5D5-D9F3-5EFB-1219854B16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88483-698E-49D4-1CD6-C0446CEC8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076E5-653D-1F39-87EA-CA502A910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E1723-08C9-F981-EB85-E44EA3D2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03A1-E257-6033-BDF6-9D8E0AB5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6753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166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71511-944C-B45B-7A3A-63759886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6E933-3F6F-B0CA-E979-CC906959F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C890-C972-B7C4-7D72-A65960DD0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9/26/2026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FEE47-BE17-7695-239E-F18ABA00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0190C-E953-9A2B-A1F0-258469A12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5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U.S. SCHOOL DISTRICT FINANCE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Spending &amp; Funding Equity - FY2012</a:t>
            </a:r>
            <a:endParaRPr lang="en-US" sz="2200" b="1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Wasike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73578" y="5613861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U.S. Census Bureau, Annual Survey of School System Finances (F-33)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527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5623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11,173 school districts, FY2012 Census finance survey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04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The Spending Gap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3347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Per-pupil revenue varies nearly 4x by state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081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Funding Source Matters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1071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federal reliance predicts spending level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58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Reality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18795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typical district actually spends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6360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Quality Catch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6519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handful of districts were excluded from comparisons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594360" cy="59436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440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413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574243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going forward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2057400"/>
            <a:ext cx="502920" cy="502920"/>
          </a:xfrm>
          <a:prstGeom prst="rect">
            <a:avLst/>
          </a:prstGeom>
          <a:solidFill>
            <a:srgbClr val="1D42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743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4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108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Census Bureau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F-33 Survey, FY2012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892040" y="2057400"/>
            <a:ext cx="50292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2743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3108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11,173 unified school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districts, 50 states + DC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641080" y="2057400"/>
            <a:ext cx="50292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274320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FIX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3108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codes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(-1,-2,-3,-9) converted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true NaN before use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per-pupil figures = (state total $) ÷ (state total pupils) — never an average of district ratios, which would let a tiny district count as much as a major city.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PER-PUPIL SPENDING VARIES NEARLY 4X ACROSS STATES</a:t>
            </a:r>
            <a:endParaRPr lang="en-US" sz="2400" dirty="0"/>
          </a:p>
        </p:txBody>
      </p:sp>
      <p:pic>
        <p:nvPicPr>
          <p:cNvPr id="3" name="Image 0" descr="/home/claude/schoolfinance-analysis/images/01_revenue_per_pupil_by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5577840" cy="5349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4630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3.9x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highest and lowest state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 Columbia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4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$28,197 / pupil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49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4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$22,251 / pupil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343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Idaho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4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$7,321 / pupil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4800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4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$7,453 / pupil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FUNDING SOURCE PREDICTS SPENDING LEVEL</a:t>
            </a:r>
            <a:endParaRPr lang="en-US" sz="2600" dirty="0"/>
          </a:p>
        </p:txBody>
      </p:sp>
      <p:pic>
        <p:nvPicPr>
          <p:cNvPr id="3" name="Image 0" descr="/home/claude/schoolfinance-analysis/images/02_local_share_vs_sp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035040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4944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$/pupil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949440" y="201168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11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revenue share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0" y="201168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+0.36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949440" y="297180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9718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revenue share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0" y="2971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A7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-0.28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949440" y="393192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9319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revenue share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39319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-0.45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512064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leaning on local (property-tax) funding spend more; states leaning on federal funding spend less — federal aid is largely compensatory, targeted at lower-resource systems.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TYPICAL DISTRICT ACTUALLY SPENDS</a:t>
            </a:r>
            <a:endParaRPr lang="en-US" sz="2600" dirty="0"/>
          </a:p>
        </p:txBody>
      </p:sp>
      <p:pic>
        <p:nvPicPr>
          <p:cNvPr id="3" name="Image 0" descr="/home/claude/schoolfinance-analysis/images/03_district_spend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640080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645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$11,590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district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30632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$9,874 – $14,396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703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 of districts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44805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10,929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5120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compared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(100+ enrollment)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QUALITY CATCH WORTH KNOWING ABOUT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73736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special-education cooperatives serve as few as 7 students while reporting full regional service budgets — producing per-pupil figures over $1,000,000. Correct math, meaningless comparison.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under 100 students, excluded from comparisons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34340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10,929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43891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kept for district-level analysis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44348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silently discarded from the underlying data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4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6420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Per-pupil funding inequality across states is structural - tied to how each state's school funding system is built, especially reliance on local property-tax revenue.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80720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federal funding share signals underlying resource scarcity, not strong federal investment producing high overall spending.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D42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95020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Cross-district comparisons must account for enrollment size - small specialized districts can produce technically accurate but misleading per-pupil figures.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509320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2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this analysis across multiple fiscal years would show whether the local-vs-federal relationship found here is a stable, structural pattern.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Wasike  |  U.S. School District Finance, FY2012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U.S. Census Bureau, Annual Survey of School System Finances (F-33)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497</Words>
  <Application>Microsoft Office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Nelson Wasike</cp:lastModifiedBy>
  <cp:revision>3</cp:revision>
  <dcterms:created xsi:type="dcterms:W3CDTF">2026-09-23T10:19:32Z</dcterms:created>
  <dcterms:modified xsi:type="dcterms:W3CDTF">2026-09-26T17:46:07Z</dcterms:modified>
</cp:coreProperties>
</file>